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5394960"/>
            <a:ext cx="2926080" cy="2926080"/>
          </a:xfrm>
          <a:prstGeom prst="ellipse">
            <a:avLst/>
          </a:prstGeom>
          <a:ln w="15875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ln w="15875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108960" y="3749040"/>
            <a:ext cx="6217920" cy="6217920"/>
          </a:xfrm>
          <a:prstGeom prst="ellipse">
            <a:avLst/>
          </a:prstGeom>
          <a:ln w="15875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931920" y="2926080"/>
            <a:ext cx="7863840" cy="7863840"/>
          </a:xfrm>
          <a:prstGeom prst="ellipse">
            <a:avLst/>
          </a:prstGeom>
          <a:ln w="15875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Code Quality &amp; Security Analysis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343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platform for continuous inspection of code quality — surfacing bugs, code smells, and security vulnerabilities before they reach production.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SonarQube?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2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8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source of truth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track the health of your source code across every project.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160020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4736592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736592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80" dirty="0"/>
          </a:p>
        </p:txBody>
      </p:sp>
      <p:sp>
        <p:nvSpPr>
          <p:cNvPr id="11" name="Text 9"/>
          <p:cNvSpPr/>
          <p:nvPr/>
        </p:nvSpPr>
        <p:spPr>
          <a:xfrm>
            <a:off x="4736592" y="2606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Surfaces real risk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6592" y="315468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bugs, code smells, security vulnerabilities, and maintainability issues early.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84464" y="160020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2F7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604504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604504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80" dirty="0"/>
          </a:p>
        </p:txBody>
      </p:sp>
      <p:sp>
        <p:nvSpPr>
          <p:cNvPr id="16" name="Text 14"/>
          <p:cNvSpPr/>
          <p:nvPr/>
        </p:nvSpPr>
        <p:spPr>
          <a:xfrm>
            <a:off x="8604504" y="2606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review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04504" y="315468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rules engine against your codebase every time you build or commit.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and 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code quality visible, measurable, and actionable throughout the software development lifecycle.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66544"/>
            <a:ext cx="320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945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detection of issues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30083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are caught close to the point where they're cheapest to fix.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4507992" y="2066544"/>
            <a:ext cx="320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21945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maintainability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07992" y="2651760"/>
            <a:ext cx="30083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Complexity, duplication, and inconsistent style are flagged.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211312" y="2066544"/>
            <a:ext cx="320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21945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security posture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11312" y="2651760"/>
            <a:ext cx="30083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vulnerability classes are detected automatically.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4215384"/>
            <a:ext cx="320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3434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Objective, consistent feedback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800600"/>
            <a:ext cx="30083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measured against the same rule set.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397764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507992" y="4215384"/>
            <a:ext cx="320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43434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more focused reviews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07992" y="4800600"/>
            <a:ext cx="30083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mechanical checks frees reviewers to focus on design and logic.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397764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211312" y="4215384"/>
            <a:ext cx="320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11312" y="43434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tracking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11312" y="4800600"/>
            <a:ext cx="30083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stored over time so teams can see quality trends across releases.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"Clean as You Code" Principle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SonarQube's guiding philosophy for managing quality sustainably.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12" dirty="0"/>
          </a:p>
        </p:txBody>
      </p:sp>
      <p:sp>
        <p:nvSpPr>
          <p:cNvPr id="6" name="Shape 4"/>
          <p:cNvSpPr/>
          <p:nvPr/>
        </p:nvSpPr>
        <p:spPr>
          <a:xfrm>
            <a:off x="1207008" y="2203704"/>
            <a:ext cx="3474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or changed line of code must meet quality standards before it's merged.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12" dirty="0"/>
          </a:p>
        </p:txBody>
      </p:sp>
      <p:sp>
        <p:nvSpPr>
          <p:cNvPr id="10" name="Shape 8"/>
          <p:cNvSpPr/>
          <p:nvPr/>
        </p:nvSpPr>
        <p:spPr>
          <a:xfrm>
            <a:off x="4818888" y="2203704"/>
            <a:ext cx="3474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251960" y="2697480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are evaluated primarily against the "new code" introduced since a baseline (e.g., last release, or last N days).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63840" y="19202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12" dirty="0"/>
          </a:p>
        </p:txBody>
      </p:sp>
      <p:sp>
        <p:nvSpPr>
          <p:cNvPr id="14" name="Text 12"/>
          <p:cNvSpPr/>
          <p:nvPr/>
        </p:nvSpPr>
        <p:spPr>
          <a:xfrm>
            <a:off x="7863840" y="2697480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time, as new code stays clean and old code is gradually touched and improved, overall codebase quality rises organically.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578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incremental, sustainable quality improvement — not a disruptive, one-time cleanup project.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Code Analysis vs. Runtime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Code Analysis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source code without executing it.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code into an abstract syntax tree and applies rules for bug patterns, insecure constructs, complexity, duplication, and style.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SonarQube's primary mode — it finds issues that would otherwise surface only at runtime, or never surface until production.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2F7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Testing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3317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executes the code to verify behavior (unit, integration, load tests).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logical errors, performance problems, and issues dependent on real data or environment state.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doesn't replace runtime testing — it ingests results (e.g., JaCoCo coverage) into one dashboard.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cooperating components make up the “server” side of a deployment.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874520"/>
          </a:xfrm>
          <a:prstGeom prst="roundRect">
            <a:avLst>
              <a:gd name="adj" fmla="val 3415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2395728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app serving the UI (dashboards, issue lists, settings) and the web API scanners use.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257800" cy="1874520"/>
          </a:xfrm>
          <a:prstGeom prst="roundRect">
            <a:avLst>
              <a:gd name="adj" fmla="val 3415"/>
            </a:avLst>
          </a:prstGeom>
          <a:solidFill>
            <a:srgbClr val="F2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0408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40880" y="2395728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processor that consumes analysis reports, calculates metrics, applies quality gates.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257800" cy="1874520"/>
          </a:xfrm>
          <a:prstGeom prst="roundRect">
            <a:avLst>
              <a:gd name="adj" fmla="val 3415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46304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Server (Elasticsearch)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4544568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issues and other searchable data — powers fast filtering and sorting in the UI.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5257800" cy="1874520"/>
          </a:xfrm>
          <a:prstGeom prst="roundRect">
            <a:avLst>
              <a:gd name="adj" fmla="val 3415"/>
            </a:avLst>
          </a:prstGeom>
          <a:solidFill>
            <a:srgbClr val="F2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04088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 Database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40880" y="4544568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store for config, profiles, gates, and historical data — the system of record.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Client, Server, and the Analysis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Web Server + Compute Engine + Search Server + Database, typically one logical deployment.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scanners: SonarScanner CLI, Maven / Gradle plugins, SonarScanner for .NET, SonarLint, etc.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30936" y="32918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3291840"/>
            <a:ext cx="16367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analyzes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locally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14016" y="329184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16936" y="32918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990088" y="3291840"/>
            <a:ext cx="16367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report to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0016" y="329184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02936" y="32918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276088" y="3291840"/>
            <a:ext cx="16367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86016" y="329184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88936" y="32918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562088" y="3291840"/>
            <a:ext cx="16367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written to DB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indexed in Elasticsearch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72016" y="329184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74936" y="32918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848088" y="3291840"/>
            <a:ext cx="16367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displays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Profiles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03504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collection of rules used to analyze code in a given programming language. Each rule checks for a specific bug pattern, code smell, or vulnerability.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3200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09067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or disable specific rules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77647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rule severity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45720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46227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different rule sets per project or team (e.g., a stricter profile for a security-critical service)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47548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2860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project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858000" y="3063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Profile per language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37490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is analyzed against exactly one Quality Profile for each language present in that project.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pass/fail conditions a project’s analysis must satisfy to be considered acceptable — turning SonarQube from a passive reporting tool into an active gatekeeper.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new bugs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51960" y="20574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205740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on new code ≥ 80%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0" y="20574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05740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new critical vulnerabilities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configured threshold on the analyzed “new code” is met.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28232" y="38404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6702552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02552" y="45262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condition was violated — dashboard shows exactly which one(s).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Integrating SonarQube with Maven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Maven-based Java projects, SonarQube integrates via the SonarQube Scanner for Maven (sonar-maven-plugin), running as part of the normal build lifecycle.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plugin to &lt;build&gt;&lt;plugins&gt; in pom.xml: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3840480"/>
          </a:xfrm>
          <a:prstGeom prst="roundRect">
            <a:avLst>
              <a:gd name="adj" fmla="val 1429"/>
            </a:avLst>
          </a:prstGeom>
          <a:solidFill>
            <a:srgbClr val="0B2A2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&lt;build&gt;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&lt;plugins&gt;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&lt;plugin&gt;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&lt;groupId&gt;org.sonarsource.scanner.maven&lt;/groupId&gt;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&lt;artifactId&gt;sonar-maven-plugin&lt;/artifactId&gt;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&lt;version&gt;3.11.0.3922&lt;/version&gt;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&lt;/plugin&gt;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&lt;/plugins&gt;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&lt;/build&gt;</a:t>
            </a:r>
            <a:endParaRPr lang="en-US" sz="1100" dirty="0"/>
          </a:p>
        </p:txBody>
      </p:sp>
      <p:pic>
        <p:nvPicPr>
          <p:cNvPr id="7" name="Image 0" descr="/home/claude/extracted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148840"/>
            <a:ext cx="5394960" cy="30358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52303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Server login screen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0B2A2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clean verify sonar:sonar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Wipes out artifacts from any previous build (the target/ directory), ensuring a fresh build rather than stale classes or reports.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301752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build lifecycle through the verify phase — compiles code and executes unit/integration tests, producing the test and coverage reports SonarQube consumes.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sonar:sonar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3880" y="301752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the Sonar Maven plugin's goal — gathers source code, bytecode, test results, and coverage reports, then submits them as an analysis report to the server.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Sonar Logs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troubleshooting resource when something goes wrong.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556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 run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60520" y="1755648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ANALYSIS SUCCESSFUL, the dashboard link, and often a background task URL.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243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errors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0520" y="2624328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 / Not authorized — usually an invalid, expired, or missing token.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930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errors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60520" y="3493008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or Connection refused — wrong sonar.host.url, a blocking firewall/proxy, or the server is down.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46304" cy="14630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61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 failures in CI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60520" y="4361688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“wait for Quality Gate” enabled, the build fails, pointing to the unmet condition(s).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46304" cy="14630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2303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task failures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60520" y="5230368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uploads succeed but server-side processing fails — dashboard shows failed even though Maven printed success.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Code &amp; Cyclomatic Complexity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2F7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Code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scans for identical or near-identical blocks across the codebase (a minimum of consecutive duplicated tokens/lines is required, so trivial repetition like boilerplate getters isn't flagged). Matters because: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154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fixed in one copy is often left unfixed in others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84048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749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inflates the codebase and makes refactoring riskier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44348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3434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signals a shared function, base class, or utility should be extracted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Cyclomatic Complexity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55080" y="22860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number of linearly independent execution paths through a piece of code.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306324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0B2A2F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0632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points + 1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from if, else if, for, while, case, &amp;&amp;, ||, catch, and ternary expressions. Each branch adds a path the code could take, and each path adds a test case needed to fully exercise the method.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Smells (Spaghetti Design)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issues that don't necessarily cause incorrect behavior today, but make code harder to maintain and more likely to cause bugs later.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24028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Excessively long methods or classes doing too many unrelated things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327648" y="224028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0" name="Text 8"/>
          <p:cNvSpPr/>
          <p:nvPr/>
        </p:nvSpPr>
        <p:spPr>
          <a:xfrm>
            <a:off x="6327648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6995160" y="187452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 conditional logic (“spaghetti” control flow)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417320" y="329184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with too many parameters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29184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27648" y="365760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995160" y="329184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with high coupling to many others (“feature envy”)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2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07492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1417320" y="470916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or unreachable code left in place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70916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2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327648" y="507492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6995160" y="470916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numbers/strings instead of named constants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Unit Tests / Coverage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doesn't run your tests itself — it consumes coverage reports generated by tools like JaCoCo and displays them alongside its static analysis findings.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Coverage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executable lines exercised by at least one test.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2F7F7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1488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/ Condition Coverage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80560" y="288036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decision branches (true and false paths of an if) exercised by tests.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21488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on New Code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83880" y="288036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“clean as you code,” this is usually the metric that actually gates builds.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coverage doesn't mean the code is broken — it means regressions in that area are less likely to be caught automatically before release.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Standards, Bugs &amp; Vulnerabilities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2F7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Standards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of naming, formatting, import order, and language-specific conventions. Lower severity individually, but consistency affects readability at scale.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463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0" y="1901952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DE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highly likely to produce incorrect behavior — null pointer dereferences, resource leaks, off-by-one errors, incorrect exception handling.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B23A4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947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233672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Exploitable constructs — SQL injection, XSS, insecure deserialization, hardcoded credentials, weak cryptography, insecure config defaults.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126480" y="36118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7947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Hotspots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0" y="4233672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using a security-sensitive API correctly in some cases, incorrectly in others. Flagged for manual human review rather than auto-classified.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bugs and vulnerabilities are assigned a severity — Blocker, Critical, Major, Minor, Info — that factors into Quality Gate evaluation.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Insufficient Comments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F2F7F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42316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860" dirty="0"/>
          </a:p>
        </p:txBody>
      </p:sp>
      <p:sp>
        <p:nvSpPr>
          <p:cNvPr id="6" name="Text 4"/>
          <p:cNvSpPr/>
          <p:nvPr/>
        </p:nvSpPr>
        <p:spPr>
          <a:xfrm>
            <a:off x="2286000" y="228600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doesn't mandate a specific comment style, but it can flag files or complex methods with unusually sparse documentation — particularly where complexity is high enough that a reader would reasonably need explanation to follow the logic.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37490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a lower-priority signal than bugs or vulnerabilities — more of a maintainability nudge than a hard requirement.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Quality 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everything into a single Passed or Failed verdict, based on configured conditions such as: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29968" cy="1051560"/>
          </a:xfrm>
          <a:prstGeom prst="roundRect">
            <a:avLst>
              <a:gd name="adj" fmla="val 608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Bugs ≤ 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15768" y="1691640"/>
            <a:ext cx="2029968" cy="1051560"/>
          </a:xfrm>
          <a:prstGeom prst="roundRect">
            <a:avLst>
              <a:gd name="adj" fmla="val 608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807208" y="1691640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Vulnerabilities ≤ 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82896" y="1691640"/>
            <a:ext cx="2029968" cy="1051560"/>
          </a:xfrm>
          <a:prstGeom prst="roundRect">
            <a:avLst>
              <a:gd name="adj" fmla="val 6087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974336" y="1691640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Code Coverage ≥ 80%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50024" y="1691640"/>
            <a:ext cx="2029968" cy="1051560"/>
          </a:xfrm>
          <a:prstGeom prst="roundRect">
            <a:avLst>
              <a:gd name="adj" fmla="val 608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141464" y="1691640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Duplicated Lines ≤ 3%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217152" y="1691640"/>
            <a:ext cx="2029968" cy="1051560"/>
          </a:xfrm>
          <a:prstGeom prst="roundRect">
            <a:avLst>
              <a:gd name="adj" fmla="val 6087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308592" y="1691640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 Reviewed = 100%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analyzed “new code” (per the clean-as-you-code model) meets every configured threshold.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 least one condition was violated; the dashboard identifies exactly which one(s), including the measured value versus the required threshold.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B2A2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463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properly configured CI/CD pipeline, a failed Quality Gate should block the merge or deployment — turning SonarQube into an enforced quality checkpoint, not just an informational dashboard.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463040"/>
            <a:ext cx="2926080" cy="2926080"/>
          </a:xfrm>
          <a:prstGeom prst="ellipse">
            <a:avLst/>
          </a:prstGeom>
          <a:ln w="15875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2952" y="-2286000"/>
            <a:ext cx="4572000" cy="4572000"/>
          </a:xfrm>
          <a:prstGeom prst="ellipse">
            <a:avLst/>
          </a:prstGeom>
          <a:ln w="15875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9992" y="-3108960"/>
            <a:ext cx="6217920" cy="6217920"/>
          </a:xfrm>
          <a:prstGeom prst="ellipse">
            <a:avLst/>
          </a:prstGeom>
          <a:ln w="15875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57032" y="-3931920"/>
            <a:ext cx="7863840" cy="7863840"/>
          </a:xfrm>
          <a:prstGeom prst="ellipse">
            <a:avLst/>
          </a:prstGeom>
          <a:ln w="15875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Passive Reporting to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Gatekeeping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turns code quality from a once-in-a-while audit into a continuous, automated, and enforced part of every build.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2026-07-22T08:35:31Z</dcterms:created>
  <dcterms:modified xsi:type="dcterms:W3CDTF">2026-07-22T08:35:31Z</dcterms:modified>
</cp:coreProperties>
</file>